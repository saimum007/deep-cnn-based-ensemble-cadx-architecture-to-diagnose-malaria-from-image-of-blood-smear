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74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DA6"/>
    <a:srgbClr val="61B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3" autoAdjust="0"/>
    <p:restoredTop sz="94660"/>
  </p:normalViewPr>
  <p:slideViewPr>
    <p:cSldViewPr snapToGrid="0">
      <p:cViewPr varScale="1">
        <p:scale>
          <a:sx n="60" d="100"/>
          <a:sy n="60" d="100"/>
        </p:scale>
        <p:origin x="7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5ABD5-D43E-4D50-82B6-DB4FDBC570A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72267-FD43-4FC4-BD88-62B71F688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4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9F86-7160-49FC-B7EA-AEA4224C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5097"/>
            <a:ext cx="9144000" cy="2204865"/>
          </a:xfrm>
        </p:spPr>
        <p:txBody>
          <a:bodyPr anchor="b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DB897-3307-45D0-8457-72B3AB421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AF0BB-6358-4FF5-AC91-0B41396B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8EC1-5701-4635-8591-73D157F4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ED75-25A2-4B2A-ABAD-8D982508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46FEF-FAA2-489B-AAE2-B3759D896495}"/>
              </a:ext>
            </a:extLst>
          </p:cNvPr>
          <p:cNvSpPr txBox="1"/>
          <p:nvPr userDrawn="1"/>
        </p:nvSpPr>
        <p:spPr>
          <a:xfrm>
            <a:off x="5318759" y="843689"/>
            <a:ext cx="1554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Bahnschrift Light" panose="020B0502040204020203" pitchFamily="34" charset="0"/>
              </a:rPr>
              <a:t>Paper ID- 305</a:t>
            </a:r>
          </a:p>
        </p:txBody>
      </p:sp>
    </p:spTree>
    <p:extLst>
      <p:ext uri="{BB962C8B-B14F-4D97-AF65-F5344CB8AC3E}">
        <p14:creationId xmlns:p14="http://schemas.microsoft.com/office/powerpoint/2010/main" val="268898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118B-4E16-40A6-9F3B-F688D180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95CC-0CA5-46B3-977F-F1BA330D6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B5E7-B067-4315-B8A7-515FE0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5B32-2EA1-4E95-890B-CCEBFBFC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5013-0934-4A4F-8AE1-0DF980E5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37B0D-BD47-43F1-9B22-F858EEAADD1C}"/>
              </a:ext>
            </a:extLst>
          </p:cNvPr>
          <p:cNvSpPr/>
          <p:nvPr userDrawn="1"/>
        </p:nvSpPr>
        <p:spPr>
          <a:xfrm>
            <a:off x="0" y="1724758"/>
            <a:ext cx="12192000" cy="54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FC6E65-007A-42D9-B3D7-DDBC5AB886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617" y="69413"/>
            <a:ext cx="70891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4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7F4E-A557-44BC-BA79-82D1AD7A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2F1A-88AB-4EBB-B116-B85BA14AF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BC90-8BFE-47C4-AA38-DFB88A28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E46B-2613-4710-AFE3-A413ECE7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38194-B8F7-43A1-8C88-D49F8EAF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22D0-A5FE-4531-ABA8-75524115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334A7-606F-4FAF-B06E-437F44B37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20A52-CEF4-4055-81BB-1805A35C9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C943D-F3F6-4CAE-B8B1-D65E3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3EE36-ABAC-4600-B87A-D92D78E5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5570-764F-4C47-86AD-43D6A40B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ABCF5-99FF-47E2-A82C-0F579CD3B3BC}"/>
              </a:ext>
            </a:extLst>
          </p:cNvPr>
          <p:cNvSpPr/>
          <p:nvPr userDrawn="1"/>
        </p:nvSpPr>
        <p:spPr>
          <a:xfrm>
            <a:off x="0" y="1724758"/>
            <a:ext cx="12192000" cy="54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B55C-7159-4CC2-A806-84A2B5BD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C5247-1790-44F2-9609-AC58B844F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63513-154E-44E5-BCAE-E192EA6E3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5E768-CC82-4973-9A7F-035D00A89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B6A7F-CF14-4903-9896-ECAB1599F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5EB5A-0AFB-4769-9A36-A874EE9D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07520-06E6-4B14-9D18-3F9AF5E7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ECEAA-A874-4591-BE93-1E8A86DA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1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28D0-0871-425A-B98E-795A6229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A60B7-D347-49E9-8701-93AC8A40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D6F4-59E0-4FDD-B890-B9F71371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10654-8903-4E0E-BC35-57A4BB20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AD4709-FE9C-4B40-A681-9726FFC3A1AB}"/>
              </a:ext>
            </a:extLst>
          </p:cNvPr>
          <p:cNvSpPr/>
          <p:nvPr userDrawn="1"/>
        </p:nvSpPr>
        <p:spPr>
          <a:xfrm>
            <a:off x="0" y="1724758"/>
            <a:ext cx="12192000" cy="54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1E21E-7D09-4785-8AB2-7DC632E2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271C6-E98B-41BC-AD21-425E8F3D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07054-CD29-4E49-914F-B4941434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26120C-1041-409E-9111-48F9CC108F62}"/>
              </a:ext>
            </a:extLst>
          </p:cNvPr>
          <p:cNvSpPr/>
          <p:nvPr userDrawn="1"/>
        </p:nvSpPr>
        <p:spPr>
          <a:xfrm>
            <a:off x="0" y="1724758"/>
            <a:ext cx="12192000" cy="54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8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7E6D-E402-481B-B743-6FEA5D9B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608A-1E91-42AC-A144-7D6F3A19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315C7-6A90-4771-B38B-AEDA58CD9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8A799-CC11-4527-8345-888FA9D8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C03E2-1415-4032-A8A5-DA615902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DCCA8-637D-49D3-AD4A-776C61D8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F2CF-76C2-4D93-9C26-C66BFBA0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04B1C-312C-4E63-AF65-20A8E0BF2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992E-0170-46EA-A0C4-3938AF245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E099-2C80-4109-B2E4-BE2E60E1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02F3F-9582-45D6-822A-8D5395DB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2B10B-0031-4C40-BB3A-3B111B1B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8FE7-ED8A-4B54-A2EB-5379A99B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8DE82-604A-4B47-A9AE-1E3EFED4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100E-EA0E-4DDB-8A47-469D2CC1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9AA8-0A9F-4D04-A4BB-90BABAD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0A37-3CB7-4B1D-AE67-2E39D69C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C11FB-D2BA-46C3-A7E7-7EAA6FA9D57B}"/>
              </a:ext>
            </a:extLst>
          </p:cNvPr>
          <p:cNvSpPr/>
          <p:nvPr userDrawn="1"/>
        </p:nvSpPr>
        <p:spPr>
          <a:xfrm>
            <a:off x="0" y="1724758"/>
            <a:ext cx="12192000" cy="548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33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7DE1A-FF02-46B1-BDAC-FFB66CDD7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E4A42-793C-4904-AFB5-119B12163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BA9D5-ADC1-4246-9F08-7754E42D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8537A-CD23-41DA-9347-6C7CB914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BEE8-1ED3-49C3-9791-4886CCD4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F7AE06-6695-4872-9D77-C2115F2B077F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3B65D-B2A2-46DB-9F3C-2B067984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DFF4-859C-4FE2-86FC-09F2B474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4C781-3283-40F5-A51D-D0BEF80DB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34F684E-1B95-4161-882B-6878AF3C1E9B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43BCD9-1517-4C85-B1CF-F3E14CB5470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7929" y="6297348"/>
            <a:ext cx="1591733" cy="4402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59AB14-A691-4823-B455-6DA07FE7ABF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806" y="6347875"/>
            <a:ext cx="986373" cy="365760"/>
          </a:xfrm>
          <a:prstGeom prst="rect">
            <a:avLst/>
          </a:prstGeom>
        </p:spPr>
      </p:pic>
      <p:pic>
        <p:nvPicPr>
          <p:cNvPr id="1070" name="Picture 1069">
            <a:extLst>
              <a:ext uri="{FF2B5EF4-FFF2-40B4-BE49-F238E27FC236}">
                <a16:creationId xmlns:a16="http://schemas.microsoft.com/office/drawing/2014/main" id="{E4B5AEC4-54F4-40F7-B1F4-52BBBB17780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032739" y="6356350"/>
            <a:ext cx="643467" cy="293511"/>
          </a:xfrm>
          <a:prstGeom prst="rect">
            <a:avLst/>
          </a:prstGeom>
        </p:spPr>
      </p:pic>
      <p:pic>
        <p:nvPicPr>
          <p:cNvPr id="1072" name="Picture 1071">
            <a:extLst>
              <a:ext uri="{FF2B5EF4-FFF2-40B4-BE49-F238E27FC236}">
                <a16:creationId xmlns:a16="http://schemas.microsoft.com/office/drawing/2014/main" id="{5B48374E-F81F-42A5-9AD5-625F636CBD06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4921" y="41565"/>
            <a:ext cx="697680" cy="822960"/>
          </a:xfrm>
          <a:prstGeom prst="rect">
            <a:avLst/>
          </a:prstGeom>
        </p:spPr>
      </p:pic>
      <p:sp>
        <p:nvSpPr>
          <p:cNvPr id="1075" name="TextBox 1074">
            <a:extLst>
              <a:ext uri="{FF2B5EF4-FFF2-40B4-BE49-F238E27FC236}">
                <a16:creationId xmlns:a16="http://schemas.microsoft.com/office/drawing/2014/main" id="{F3277A2A-0015-4CC6-8023-7105696CDF09}"/>
              </a:ext>
            </a:extLst>
          </p:cNvPr>
          <p:cNvSpPr txBox="1"/>
          <p:nvPr userDrawn="1"/>
        </p:nvSpPr>
        <p:spPr>
          <a:xfrm>
            <a:off x="2019993" y="5474"/>
            <a:ext cx="847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2</a:t>
            </a:r>
            <a:r>
              <a:rPr lang="en-US" sz="1600" baseline="300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nd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</a:rPr>
              <a:t> International Conference on Trends in Computational and Cognitive Engineering (TCCE)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D2D6E4-FCA9-4DC1-A2DC-C733C80C970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617" y="69413"/>
            <a:ext cx="70891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0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remyjordan.me/convnet-architectures" TargetMode="External"/><Relationship Id="rId7" Type="http://schemas.openxmlformats.org/officeDocument/2006/relationships/hyperlink" Target="https://doi.org/10.1016/j.micron.2012.11.002" TargetMode="External"/><Relationship Id="rId2" Type="http://schemas.openxmlformats.org/officeDocument/2006/relationships/hyperlink" Target="https://lhncbc.nlm.nih.gov/publication/pub993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1042-016-4264-7" TargetMode="External"/><Relationship Id="rId5" Type="http://schemas.openxmlformats.org/officeDocument/2006/relationships/hyperlink" Target="https://doi.org/10.1109/ACCESS.2017.2705642" TargetMode="External"/><Relationship Id="rId4" Type="http://schemas.openxmlformats.org/officeDocument/2006/relationships/hyperlink" Target="https://doi.org/10.7717/peerj.6977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F21B-65EF-4EC3-B869-43657A87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0051"/>
            <a:ext cx="9144000" cy="14671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70C0"/>
                </a:solidFill>
              </a:rPr>
              <a:t>Deep CNN-supported Ensemble CADx Architecture to Diagnose Malaria by Medical Image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70567-60F2-4631-BA4E-54E2313E6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525" y="3670825"/>
            <a:ext cx="11111023" cy="2070757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Erteza Tawsif Efaz</a:t>
            </a:r>
            <a:r>
              <a:rPr lang="en-US" sz="2000" b="1" baseline="30000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1</a:t>
            </a:r>
            <a:r>
              <a:rPr lang="en-US" sz="2000" b="1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, Fakhrul Alam</a:t>
            </a:r>
            <a:r>
              <a:rPr lang="en-US" sz="2000" b="1" baseline="30000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2</a:t>
            </a:r>
            <a:r>
              <a:rPr lang="en-US" sz="2000" b="1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, Md. Shah Kamal</a:t>
            </a:r>
            <a:r>
              <a:rPr lang="en-US" sz="2000" b="1" baseline="30000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3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endParaRPr lang="en-US" sz="1700" b="1" dirty="0">
              <a:solidFill>
                <a:srgbClr val="0070C0"/>
              </a:solidFill>
              <a:latin typeface="Poppins Light" panose="00000400000000000000" pitchFamily="50" charset="0"/>
              <a:cs typeface="Poppins Light" panose="00000400000000000000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700" b="1" baseline="30000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1 </a:t>
            </a:r>
            <a:r>
              <a:rPr lang="en-US" sz="1700" b="1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Department of Electrical &amp; Electronic Engineering, Ahsanullah University of Science &amp; Technology, Dhaka 1208, Bangladesh; </a:t>
            </a:r>
            <a:r>
              <a:rPr lang="en-US" sz="1700" b="1" baseline="30000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2 </a:t>
            </a:r>
            <a:r>
              <a:rPr lang="en-US" sz="1700" b="1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Department of Electrical, Electronic &amp; Communication Engineering, Military Institute of Science &amp; Technology, Dhaka 1216, Bangladesh; </a:t>
            </a:r>
            <a:r>
              <a:rPr lang="en-US" sz="1700" b="1" baseline="30000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3 </a:t>
            </a:r>
            <a:r>
              <a:rPr lang="en-US" sz="1700" b="1" dirty="0">
                <a:solidFill>
                  <a:srgbClr val="0070C0"/>
                </a:solidFill>
                <a:latin typeface="Poppins Light" panose="00000400000000000000" pitchFamily="50" charset="0"/>
                <a:cs typeface="Poppins Light" panose="00000400000000000000" pitchFamily="50" charset="0"/>
              </a:rPr>
              <a:t>Department of Electrical &amp; Electronic Engineering, University of Dhaka, Dhaka 1000, Bangladesh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B3C07-410A-420B-8D5C-20DC0232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4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3"/>
    </mc:Choice>
    <mc:Fallback xmlns="">
      <p:transition spd="slow" advTm="191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9540"/>
            <a:ext cx="10675776" cy="3150412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Introduction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Related Works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Proposed Methodology</a:t>
            </a:r>
          </a:p>
          <a:p>
            <a:pPr lvl="1" algn="just"/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Data collection</a:t>
            </a:r>
          </a:p>
          <a:p>
            <a:pPr lvl="1" algn="just"/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Model configuration</a:t>
            </a:r>
          </a:p>
          <a:p>
            <a:pPr lvl="1" algn="just"/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Model ensemble</a:t>
            </a:r>
          </a:p>
          <a:p>
            <a:pPr lvl="1" algn="just"/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Statistical analysis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Experimental Results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99"/>
    </mc:Choice>
    <mc:Fallback xmlns="">
      <p:transition spd="slow" advTm="215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1	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The summary of this work can be drawn as follows,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Employing a set of standard architecture to measure all parameters.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Assembling several models to improve overall performance.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Differentiating with notable classification methods.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The rest of the sections demonstrated the related works, proposed methodology, and experimental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3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792"/>
    </mc:Choice>
    <mc:Fallback xmlns="">
      <p:transition spd="slow" advTm="5579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2	Related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So, a desirable system needs the traits as below,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Research on patient-level detection by evaluating a large image set.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 compact method for IoT devices through a cloud platform.</a:t>
            </a: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Closer accuracy to NIH with less computation.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Microcontroller system gives ample scope for more development in this regard.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3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19"/>
    </mc:Choice>
    <mc:Fallback xmlns="">
      <p:transition spd="slow" advTm="6431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3	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69271" y="5908804"/>
            <a:ext cx="384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Fig. 1. Proposed workflow for malaria detection.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050805"/>
              </p:ext>
            </p:extLst>
          </p:nvPr>
        </p:nvGraphicFramePr>
        <p:xfrm>
          <a:off x="3828071" y="1794004"/>
          <a:ext cx="4535849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638949" imgH="5133975" progId="Visio.Drawing.15">
                  <p:embed/>
                </p:oleObj>
              </mc:Choice>
              <mc:Fallback>
                <p:oleObj name="Visio" r:id="rId2" imgW="5638949" imgH="5133975" progId="Visio.Drawing.1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071" y="1794004"/>
                        <a:ext cx="4535849" cy="411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825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01"/>
    </mc:Choice>
    <mc:Fallback xmlns="">
      <p:transition spd="slow" advTm="860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3	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42769" y="5908804"/>
            <a:ext cx="470645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Fig. 2. A blood smear image subset provided by the NIH [1].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" r="50320" b="3805"/>
          <a:stretch/>
        </p:blipFill>
        <p:spPr bwMode="auto">
          <a:xfrm>
            <a:off x="4530020" y="2428146"/>
            <a:ext cx="3131959" cy="27432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7B1CFD24-0B32-461F-B213-982A923697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7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68"/>
    </mc:Choice>
    <mc:Fallback xmlns="">
      <p:transition spd="slow" advTm="348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3	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04141" y="2864599"/>
            <a:ext cx="43837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Table 1. Distribution of dataset for malaria detection.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441799"/>
              </p:ext>
            </p:extLst>
          </p:nvPr>
        </p:nvGraphicFramePr>
        <p:xfrm>
          <a:off x="838199" y="3109119"/>
          <a:ext cx="10515600" cy="1828800"/>
        </p:xfrm>
        <a:graphic>
          <a:graphicData uri="http://schemas.openxmlformats.org/drawingml/2006/table">
            <a:tbl>
              <a:tblPr firstRow="1" lastRow="1" lastCol="1">
                <a:tableStyleId>{5C22544A-7EE6-4342-B048-85BDC9FD1C3A}</a:tableStyleId>
              </a:tblPr>
              <a:tblGrid>
                <a:gridCol w="3533242">
                  <a:extLst>
                    <a:ext uri="{9D8B030D-6E8A-4147-A177-3AD203B41FA5}">
                      <a16:colId xmlns:a16="http://schemas.microsoft.com/office/drawing/2014/main" val="432430509"/>
                    </a:ext>
                  </a:extLst>
                </a:gridCol>
                <a:gridCol w="2580528">
                  <a:extLst>
                    <a:ext uri="{9D8B030D-6E8A-4147-A177-3AD203B41FA5}">
                      <a16:colId xmlns:a16="http://schemas.microsoft.com/office/drawing/2014/main" val="392696342"/>
                    </a:ext>
                  </a:extLst>
                </a:gridCol>
                <a:gridCol w="2542672">
                  <a:extLst>
                    <a:ext uri="{9D8B030D-6E8A-4147-A177-3AD203B41FA5}">
                      <a16:colId xmlns:a16="http://schemas.microsoft.com/office/drawing/2014/main" val="2599262283"/>
                    </a:ext>
                  </a:extLst>
                </a:gridCol>
                <a:gridCol w="1859158">
                  <a:extLst>
                    <a:ext uri="{9D8B030D-6E8A-4147-A177-3AD203B41FA5}">
                      <a16:colId xmlns:a16="http://schemas.microsoft.com/office/drawing/2014/main" val="24627779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Dataset</a:t>
                      </a:r>
                      <a:endParaRPr lang="en-US" sz="2400" dirty="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Parasitized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Uninfected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Total</a:t>
                      </a:r>
                      <a:endParaRPr lang="en-US" sz="2400" dirty="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5555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Training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10,301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10,301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20,602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0972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Validation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1,378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1,378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2,756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4540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Testing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2,100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2,100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4,200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6310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Number of images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13,779</a:t>
                      </a:r>
                      <a:endParaRPr lang="en-US" sz="2400" dirty="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13,779</a:t>
                      </a:r>
                      <a:endParaRPr lang="en-US" sz="240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27,558</a:t>
                      </a:r>
                      <a:endParaRPr lang="en-US" sz="2400" dirty="0">
                        <a:effectLst/>
                        <a:latin typeface="Poppins" panose="0000050000000000000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026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83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5"/>
    </mc:Choice>
    <mc:Fallback xmlns="">
      <p:transition spd="slow" advTm="3423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3	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35429" y="5910146"/>
            <a:ext cx="5518640" cy="244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Fig. 3. Architecture of (a) VGG-19 and (b) ResNet-50 adapted from [2].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044544"/>
              </p:ext>
            </p:extLst>
          </p:nvPr>
        </p:nvGraphicFramePr>
        <p:xfrm>
          <a:off x="2598235" y="2651919"/>
          <a:ext cx="524524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829564" imgH="3629025" progId="Visio.Drawing.15">
                  <p:embed/>
                </p:oleObj>
              </mc:Choice>
              <mc:Fallback>
                <p:oleObj name="Visio" r:id="rId2" imgW="6829564" imgH="362902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235" y="2651919"/>
                        <a:ext cx="5245240" cy="274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42"/>
              </p:ext>
            </p:extLst>
          </p:nvPr>
        </p:nvGraphicFramePr>
        <p:xfrm>
          <a:off x="7843475" y="2880519"/>
          <a:ext cx="174625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66767" imgH="2752725" progId="Visio.Drawing.15">
                  <p:embed/>
                </p:oleObj>
              </mc:Choice>
              <mc:Fallback>
                <p:oleObj name="Visio" r:id="rId4" imgW="2066767" imgH="2752725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3475" y="2880519"/>
                        <a:ext cx="174625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7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861"/>
    </mc:Choice>
    <mc:Fallback xmlns="">
      <p:transition spd="slow" advTm="4886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3	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>
            <a:normAutofit/>
          </a:bodyPr>
          <a:lstStyle/>
          <a:p>
            <a:pPr marL="0" indent="0" algn="just" hangingPunc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The indices are expressed as stated,</a:t>
            </a:r>
          </a:p>
          <a:p>
            <a:pPr lvl="0" algn="just" hangingPunct="0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Here, the n</a:t>
            </a:r>
            <a:r>
              <a:rPr lang="en-US" sz="2000" baseline="30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th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 classifier = C</a:t>
            </a:r>
            <a:r>
              <a:rPr lang="en-US" sz="2000" baseline="-25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n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Poppins"/>
            </a:endParaRPr>
          </a:p>
          <a:p>
            <a:pPr lvl="0" algn="just" hangingPunct="0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And, the probability of the n</a:t>
            </a:r>
            <a:r>
              <a:rPr lang="en-US" sz="2000" baseline="30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th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 classifier = P</a:t>
            </a:r>
            <a:r>
              <a:rPr lang="en-US" sz="2000" baseline="-25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n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Poppins"/>
            </a:endParaRPr>
          </a:p>
          <a:p>
            <a:pPr algn="just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For the prediction probability &gt; 0.5, the microscopic blood smear image will be classified as parasitized.</a:t>
            </a:r>
          </a:p>
          <a:p>
            <a:pPr lvl="0" algn="just" hangingPunct="0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T</a:t>
            </a:r>
            <a:r>
              <a:rPr lang="en-US" sz="2000" baseline="-25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p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 = true-positive (determined accurately)</a:t>
            </a:r>
          </a:p>
          <a:p>
            <a:pPr lvl="0" algn="just" hangingPunct="0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T</a:t>
            </a:r>
            <a:r>
              <a:rPr lang="en-US" sz="2000" baseline="-25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n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 = true-negative (determined inaccurately)</a:t>
            </a:r>
          </a:p>
          <a:p>
            <a:pPr lvl="0" algn="just" hangingPunct="0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F</a:t>
            </a:r>
            <a:r>
              <a:rPr lang="en-US" sz="2000" baseline="-25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p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 = false-positive (undetermined accurately)</a:t>
            </a:r>
          </a:p>
          <a:p>
            <a:pPr lvl="0" algn="just" hangingPunct="0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F</a:t>
            </a:r>
            <a:r>
              <a:rPr lang="en-US" sz="2000" baseline="-25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n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 = false-negative (undetermined inaccurately)</a:t>
            </a:r>
          </a:p>
          <a:p>
            <a:pPr marL="0" indent="0" algn="just" hangingPunc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/>
              </a:rPr>
              <a:t>The neural network model computation is a crucial portion of this analysis.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1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726"/>
    </mc:Choice>
    <mc:Fallback xmlns="">
      <p:transition spd="slow" advTm="397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3	Proposed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197DE-B24F-41DB-AB59-112FB39C5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328425" cy="4351338"/>
              </a:xfrm>
            </p:spPr>
            <p:txBody>
              <a:bodyPr>
                <a:noAutofit/>
              </a:bodyPr>
              <a:lstStyle/>
              <a:p>
                <a:pPr marL="0" indent="0" algn="just" hangingPunct="0">
                  <a:buNone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The equations are specified as follows,</a:t>
                </a:r>
                <a:endParaRPr lang="en-US" sz="2000" i="1" dirty="0">
                  <a:solidFill>
                    <a:schemeClr val="accent5">
                      <a:lumMod val="75000"/>
                    </a:schemeClr>
                  </a:solidFill>
                  <a:latin typeface="Poppins"/>
                </a:endParaRPr>
              </a:p>
              <a:p>
                <a:pPr algn="just" hangingPunct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	(1)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(2)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Accuracy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(3)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(4)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Sensitivity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(5)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Specifity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(6)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197DE-B24F-41DB-AB59-112FB39C5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328425" cy="4351338"/>
              </a:xfrm>
              <a:blipFill>
                <a:blip r:embed="rId4"/>
                <a:stretch>
                  <a:fillRect l="-114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F0197DE-B24F-41DB-AB59-112FB39C53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6624" y="1825625"/>
                <a:ext cx="532842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hangingPunct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(7)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Miss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rate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(8)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Fall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out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			(9)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MCC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√[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 (10)</a:t>
                </a:r>
              </a:p>
              <a:p>
                <a:pPr algn="just" hangingPunct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Cohe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Kappa</m:t>
                    </m:r>
                    <m: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accuracy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expectation</m:t>
                        </m:r>
                      </m:num>
                      <m:den>
                        <m: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expectation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  (11)</a:t>
                </a:r>
              </a:p>
              <a:p>
                <a:pPr marL="0" indent="0" algn="just" hangingPunct="0">
                  <a:buNone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  <a:latin typeface="Poppins"/>
                  </a:rPr>
                  <a:t>To evaluate the model performance by prediction, model testing was employed after the completion of model training.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F0197DE-B24F-41DB-AB59-112FB39C5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624" y="1825625"/>
                <a:ext cx="5328425" cy="4351338"/>
              </a:xfrm>
              <a:prstGeom prst="rect">
                <a:avLst/>
              </a:prstGeom>
              <a:blipFill>
                <a:blip r:embed="rId5"/>
                <a:stretch>
                  <a:fillRect l="-1259" r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6166624" y="1836776"/>
            <a:ext cx="0" cy="4273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21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87"/>
    </mc:Choice>
    <mc:Fallback xmlns="">
      <p:transition spd="slow" advTm="2018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4	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55931" y="2862898"/>
            <a:ext cx="408013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Table 2. Confusion matrix of different classifiers.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253501"/>
              </p:ext>
            </p:extLst>
          </p:nvPr>
        </p:nvGraphicFramePr>
        <p:xfrm>
          <a:off x="838198" y="3109119"/>
          <a:ext cx="1051559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19551">
                  <a:extLst>
                    <a:ext uri="{9D8B030D-6E8A-4147-A177-3AD203B41FA5}">
                      <a16:colId xmlns:a16="http://schemas.microsoft.com/office/drawing/2014/main" val="2851496381"/>
                    </a:ext>
                  </a:extLst>
                </a:gridCol>
                <a:gridCol w="2130887">
                  <a:extLst>
                    <a:ext uri="{9D8B030D-6E8A-4147-A177-3AD203B41FA5}">
                      <a16:colId xmlns:a16="http://schemas.microsoft.com/office/drawing/2014/main" val="4085988740"/>
                    </a:ext>
                  </a:extLst>
                </a:gridCol>
                <a:gridCol w="2130887">
                  <a:extLst>
                    <a:ext uri="{9D8B030D-6E8A-4147-A177-3AD203B41FA5}">
                      <a16:colId xmlns:a16="http://schemas.microsoft.com/office/drawing/2014/main" val="2869202492"/>
                    </a:ext>
                  </a:extLst>
                </a:gridCol>
                <a:gridCol w="1567137">
                  <a:extLst>
                    <a:ext uri="{9D8B030D-6E8A-4147-A177-3AD203B41FA5}">
                      <a16:colId xmlns:a16="http://schemas.microsoft.com/office/drawing/2014/main" val="2653632447"/>
                    </a:ext>
                  </a:extLst>
                </a:gridCol>
                <a:gridCol w="1567137">
                  <a:extLst>
                    <a:ext uri="{9D8B030D-6E8A-4147-A177-3AD203B41FA5}">
                      <a16:colId xmlns:a16="http://schemas.microsoft.com/office/drawing/2014/main" val="203413859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Classifiers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T</a:t>
                      </a:r>
                      <a:r>
                        <a:rPr lang="en-US" sz="2000" baseline="-25000" dirty="0">
                          <a:effectLst/>
                          <a:latin typeface="Poppins" panose="00000500000000000000"/>
                        </a:rPr>
                        <a:t>p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T</a:t>
                      </a:r>
                      <a:r>
                        <a:rPr lang="en-US" sz="2000" baseline="-25000" dirty="0">
                          <a:effectLst/>
                          <a:latin typeface="Poppins" panose="00000500000000000000"/>
                        </a:rPr>
                        <a:t>n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F</a:t>
                      </a:r>
                      <a:r>
                        <a:rPr lang="en-US" sz="2000" baseline="-25000" dirty="0">
                          <a:effectLst/>
                          <a:latin typeface="Poppins" panose="00000500000000000000"/>
                        </a:rPr>
                        <a:t>p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F</a:t>
                      </a:r>
                      <a:r>
                        <a:rPr lang="en-US" sz="2000" baseline="-25000" dirty="0">
                          <a:effectLst/>
                          <a:latin typeface="Poppins" panose="00000500000000000000"/>
                        </a:rPr>
                        <a:t>n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135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VGG-19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2,051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2,006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49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94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555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ResNet-50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2,004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2,018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96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82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8349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Ensemble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2,015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2,047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Poppins" panose="00000500000000000000"/>
                        </a:rPr>
                        <a:t>53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Poppins" panose="00000500000000000000"/>
                        </a:rPr>
                        <a:t>85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214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02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03"/>
    </mc:Choice>
    <mc:Fallback xmlns="">
      <p:transition spd="slow" advTm="389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4	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83812" y="5908804"/>
            <a:ext cx="4024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Fig. 4. ROC graph of (a) VGG-19 and (b) ResNet-50.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" t="4166" r="7870" b="2431"/>
          <a:stretch/>
        </p:blipFill>
        <p:spPr bwMode="auto">
          <a:xfrm>
            <a:off x="838200" y="2428146"/>
            <a:ext cx="3906012" cy="274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 t="4514" r="8102" b="2084"/>
          <a:stretch/>
        </p:blipFill>
        <p:spPr bwMode="auto">
          <a:xfrm>
            <a:off x="7447788" y="2428146"/>
            <a:ext cx="3906012" cy="274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2468040" y="2028036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  <a:ea typeface="Times New Roman" panose="02020603050405020304" pitchFamily="18" charset="0"/>
              </a:rPr>
              <a:t>(a)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77628" y="2028036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  <a:ea typeface="Times New Roman" panose="02020603050405020304" pitchFamily="18" charset="0"/>
              </a:rPr>
              <a:t>(b)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23483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82"/>
    </mc:Choice>
    <mc:Fallback xmlns="">
      <p:transition spd="slow" advTm="2888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4	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48818" y="5908804"/>
            <a:ext cx="52943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Fig. 5. Accuracy vs. epochs graphs of (a) VGG-19 and (b) ResNet-50.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68039" y="2028036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  <a:ea typeface="Times New Roman" panose="02020603050405020304" pitchFamily="18" charset="0"/>
              </a:rPr>
              <a:t>(a)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77627" y="2028036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  <a:ea typeface="Times New Roman" panose="02020603050405020304" pitchFamily="18" charset="0"/>
              </a:rPr>
              <a:t>(b)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t="4167" r="8333" b="1736"/>
          <a:stretch/>
        </p:blipFill>
        <p:spPr bwMode="auto">
          <a:xfrm>
            <a:off x="838199" y="2428146"/>
            <a:ext cx="3906012" cy="274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" t="4515" r="8565" b="1736"/>
          <a:stretch/>
        </p:blipFill>
        <p:spPr bwMode="auto">
          <a:xfrm>
            <a:off x="7447787" y="2428146"/>
            <a:ext cx="3906012" cy="274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7642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46"/>
    </mc:Choice>
    <mc:Fallback xmlns="">
      <p:transition spd="slow" advTm="3824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4	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34930" y="5908804"/>
            <a:ext cx="392213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Fig. 6. Performance metrics of malaria detection.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" r="4471" b="6337"/>
          <a:stretch/>
        </p:blipFill>
        <p:spPr bwMode="auto">
          <a:xfrm>
            <a:off x="1634066" y="1970946"/>
            <a:ext cx="8923867" cy="3657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6050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507"/>
    </mc:Choice>
    <mc:Fallback xmlns="">
      <p:transition spd="slow" advTm="5250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4	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56458" y="2862898"/>
            <a:ext cx="567908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</a:rPr>
              <a:t>Table 3. Performance comparison of proposed model for malaria detection.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207025"/>
              </p:ext>
            </p:extLst>
          </p:nvPr>
        </p:nvGraphicFramePr>
        <p:xfrm>
          <a:off x="838201" y="3109119"/>
          <a:ext cx="10515601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90277">
                  <a:extLst>
                    <a:ext uri="{9D8B030D-6E8A-4147-A177-3AD203B41FA5}">
                      <a16:colId xmlns:a16="http://schemas.microsoft.com/office/drawing/2014/main" val="3381728715"/>
                    </a:ext>
                  </a:extLst>
                </a:gridCol>
                <a:gridCol w="1631331">
                  <a:extLst>
                    <a:ext uri="{9D8B030D-6E8A-4147-A177-3AD203B41FA5}">
                      <a16:colId xmlns:a16="http://schemas.microsoft.com/office/drawing/2014/main" val="1047274883"/>
                    </a:ext>
                  </a:extLst>
                </a:gridCol>
                <a:gridCol w="1631331">
                  <a:extLst>
                    <a:ext uri="{9D8B030D-6E8A-4147-A177-3AD203B41FA5}">
                      <a16:colId xmlns:a16="http://schemas.microsoft.com/office/drawing/2014/main" val="3604084853"/>
                    </a:ext>
                  </a:extLst>
                </a:gridCol>
                <a:gridCol w="1631331">
                  <a:extLst>
                    <a:ext uri="{9D8B030D-6E8A-4147-A177-3AD203B41FA5}">
                      <a16:colId xmlns:a16="http://schemas.microsoft.com/office/drawing/2014/main" val="563340664"/>
                    </a:ext>
                  </a:extLst>
                </a:gridCol>
                <a:gridCol w="1631331">
                  <a:extLst>
                    <a:ext uri="{9D8B030D-6E8A-4147-A177-3AD203B41FA5}">
                      <a16:colId xmlns:a16="http://schemas.microsoft.com/office/drawing/2014/main" val="296643495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Methods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Accuracy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Sensitivity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Specificity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F-score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8032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Our proposed model (patient-level)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Poppins" panose="00000500000000000000"/>
                        </a:rPr>
                        <a:t>0.967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Poppins" panose="00000500000000000000"/>
                        </a:rPr>
                        <a:t>0.960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Poppins" panose="00000500000000000000"/>
                        </a:rPr>
                        <a:t>0.975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Poppins" panose="00000500000000000000"/>
                        </a:rPr>
                        <a:t>0.967</a:t>
                      </a:r>
                      <a:endParaRPr lang="en-US" sz="1500" b="1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10931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Rajaraman et al. (patient-level) [3]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0.995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0.971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0.985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0.995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94854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Bibin, Nair &amp; Punitha [4]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0.963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0.976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0.959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0.897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63729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Devi et al. [5]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0.963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0.930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0.968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0.853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3261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Das et al. [6]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0.840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0.981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Poppins" panose="00000500000000000000"/>
                        </a:rPr>
                        <a:t>0.689</a:t>
                      </a:r>
                      <a:endParaRPr lang="en-US" sz="150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144145" algn="ctr" hangingPunct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Poppins" panose="00000500000000000000"/>
                        </a:rPr>
                        <a:t>0.884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Poppins" panose="0000050000000000000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7792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38200" y="5524659"/>
            <a:ext cx="68988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600"/>
              </a:spcAft>
            </a:pPr>
            <a:r>
              <a:rPr lang="en-US" sz="1000" i="1" dirty="0">
                <a:solidFill>
                  <a:schemeClr val="accent5">
                    <a:lumMod val="75000"/>
                  </a:schemeClr>
                </a:solidFill>
                <a:latin typeface="Poppins" panose="00000500000000000000"/>
                <a:ea typeface="Times New Roman" panose="02020603050405020304" pitchFamily="18" charset="0"/>
              </a:rPr>
              <a:t>*The bold metrics values indicate the performance measures of the presented architecture</a:t>
            </a:r>
            <a:endParaRPr lang="en-US" sz="1050" i="1" dirty="0">
              <a:solidFill>
                <a:schemeClr val="accent5">
                  <a:lumMod val="75000"/>
                </a:schemeClr>
              </a:solidFill>
              <a:effectLst/>
              <a:latin typeface="Poppins" panose="0000050000000000000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56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234"/>
    </mc:Choice>
    <mc:Fallback xmlns="">
      <p:transition spd="slow" advTm="5323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5	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To improve the proposed model, recommendations can be made as below,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•	Weight quantization on the respective models would allow a smaller version.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•	The overall classiﬁcation assignment should be available over the cloud.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•	An end-to-end user-friendly mobile application needs to be developed.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The proposed model provides a design for automatic malaria detecting classifier via an application programming interface (API) with not only reasonable accuracy but also well-founded computation.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252"/>
    </mc:Choice>
    <mc:Fallback xmlns="">
      <p:transition spd="slow" advTm="8225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93" y="1836258"/>
            <a:ext cx="10634330" cy="4160505"/>
          </a:xfrm>
        </p:spPr>
        <p:txBody>
          <a:bodyPr>
            <a:noAutofit/>
          </a:bodyPr>
          <a:lstStyle/>
          <a:p>
            <a:pPr marL="627063" indent="-339725" algn="just" hangingPunct="0">
              <a:buNone/>
            </a:pPr>
            <a:r>
              <a:rPr lang="en-US" sz="1500" dirty="0">
                <a:latin typeface="Poppins" panose="00000500000000000000"/>
              </a:rPr>
              <a:t>[1]	Malaria Datasets | National Library of Medicine, 	</a:t>
            </a:r>
            <a:r>
              <a:rPr lang="en-US" sz="1500" dirty="0">
                <a:latin typeface="Poppins" panose="00000500000000000000"/>
                <a:hlinkClick r:id="rId2"/>
              </a:rPr>
              <a:t>https://lhncbc.nlm.nih.gov/publication/pub9932</a:t>
            </a:r>
            <a:r>
              <a:rPr lang="en-US" sz="1500" dirty="0">
                <a:latin typeface="Poppins" panose="00000500000000000000"/>
              </a:rPr>
              <a:t>, last accessed 2020/06/30.</a:t>
            </a:r>
          </a:p>
          <a:p>
            <a:pPr marL="627063" indent="-339725" algn="just" hangingPunct="0">
              <a:buNone/>
            </a:pPr>
            <a:r>
              <a:rPr lang="en-US" sz="1500" dirty="0">
                <a:latin typeface="Poppins" panose="00000500000000000000"/>
              </a:rPr>
              <a:t>[2]	Common architectures in convolutional neural networks, 	</a:t>
            </a:r>
            <a:r>
              <a:rPr lang="en-US" sz="1500" dirty="0">
                <a:latin typeface="Poppins" panose="00000500000000000000"/>
                <a:hlinkClick r:id="rId3"/>
              </a:rPr>
              <a:t>https://www.jeremyjordan.me/convnet-architectures</a:t>
            </a:r>
            <a:r>
              <a:rPr lang="en-US" sz="1500" dirty="0">
                <a:latin typeface="Poppins" panose="00000500000000000000"/>
              </a:rPr>
              <a:t>, last accessed 2020/06/30.</a:t>
            </a:r>
          </a:p>
          <a:p>
            <a:pPr marL="627063" lvl="0" indent="-339725" algn="just" hangingPunct="0">
              <a:buNone/>
            </a:pPr>
            <a:r>
              <a:rPr lang="en-US" sz="1500" dirty="0">
                <a:latin typeface="Poppins" panose="00000500000000000000"/>
              </a:rPr>
              <a:t>[3]	Rajaraman, S., Jaeger, S., Antani, S.K.: Performance evaluation of deep neural 	ensembles toward malaria parasite detection in thin-blood smear images. 	PeerJ. 7,	e6977 (2019). </a:t>
            </a:r>
            <a:r>
              <a:rPr lang="en-US" sz="1500" dirty="0">
                <a:latin typeface="Poppins" panose="00000500000000000000"/>
                <a:hlinkClick r:id="rId4"/>
              </a:rPr>
              <a:t>https://doi.org/10.7717/peerj.6977</a:t>
            </a:r>
            <a:r>
              <a:rPr lang="en-US" sz="1500" dirty="0">
                <a:latin typeface="Poppins" panose="00000500000000000000"/>
              </a:rPr>
              <a:t>.</a:t>
            </a:r>
          </a:p>
          <a:p>
            <a:pPr marL="627063" lvl="0" indent="-339725" algn="just" hangingPunct="0">
              <a:buNone/>
            </a:pPr>
            <a:r>
              <a:rPr lang="en-US" sz="1500" dirty="0">
                <a:latin typeface="Poppins" panose="00000500000000000000"/>
              </a:rPr>
              <a:t>[4]	Bibin, D., Nair, M.S., Punitha, P.: Malaria Parasite Detection from Peripheral 	Blood Smear Images Using Deep Belief Networks. IEEE Access. 5, 9099–9108 	(2017). </a:t>
            </a:r>
            <a:r>
              <a:rPr lang="en-US" sz="1500" dirty="0">
                <a:latin typeface="Poppins" panose="00000500000000000000"/>
                <a:hlinkClick r:id="rId5"/>
              </a:rPr>
              <a:t>https://doi.org/10.1109/ACCESS.2017.2705642</a:t>
            </a:r>
            <a:r>
              <a:rPr lang="en-US" sz="1500" dirty="0">
                <a:latin typeface="Poppins" panose="00000500000000000000"/>
              </a:rPr>
              <a:t>.</a:t>
            </a:r>
          </a:p>
          <a:p>
            <a:pPr marL="627063" lvl="0" indent="-339725" algn="just" hangingPunct="0">
              <a:buNone/>
            </a:pPr>
            <a:r>
              <a:rPr lang="en-US" sz="1500" dirty="0">
                <a:latin typeface="Poppins" panose="00000500000000000000"/>
              </a:rPr>
              <a:t>[5]	Devi, S.S., Roy, A., Singha, J., Sheikh, S.A., Laskar, R.H.: Malaria infected 	erythrocyte classification based on a hybrid classifier using microscopic images 	of thin blood smear. Multimed. Tools Appl. 77, 631–660 (2018). 	</a:t>
            </a:r>
            <a:r>
              <a:rPr lang="en-US" sz="1500" dirty="0">
                <a:latin typeface="Poppins" panose="00000500000000000000"/>
                <a:hlinkClick r:id="rId6"/>
              </a:rPr>
              <a:t>https://doi.org/10.1007/s11042-016-4264-7</a:t>
            </a:r>
            <a:r>
              <a:rPr lang="en-US" sz="1500" dirty="0">
                <a:latin typeface="Poppins" panose="00000500000000000000"/>
              </a:rPr>
              <a:t>.</a:t>
            </a:r>
          </a:p>
          <a:p>
            <a:pPr marL="627063" lvl="0" indent="-339725" algn="just" hangingPunct="0">
              <a:buNone/>
            </a:pPr>
            <a:r>
              <a:rPr lang="en-US" sz="1500" dirty="0">
                <a:latin typeface="Poppins" panose="00000500000000000000"/>
              </a:rPr>
              <a:t>[6]	Das, D.K., Ghosh, M., Pal, M., Maiti, A.K., Chakraborty, C.: Machine learning 	approach for automated screening of malaria parasite using light microscopic 	images. Micron. 45, 97–106 (2013). 	</a:t>
            </a:r>
            <a:r>
              <a:rPr lang="en-US" sz="1500" dirty="0">
                <a:latin typeface="Poppins" panose="00000500000000000000"/>
                <a:hlinkClick r:id="rId7"/>
              </a:rPr>
              <a:t>https://doi.org/10.1016/j.micron.2012.11.002</a:t>
            </a:r>
            <a:r>
              <a:rPr lang="en-US" sz="1500" dirty="0">
                <a:latin typeface="Poppins" panose="0000050000000000000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1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96"/>
    </mc:Choice>
    <mc:Fallback xmlns="">
      <p:transition spd="slow" advTm="1999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3A88-D979-4984-BBF0-9032FF0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0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07"/>
    </mc:Choice>
    <mc:Fallback xmlns="">
      <p:transition spd="slow" advTm="1590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</TotalTime>
  <Words>1140</Words>
  <Application>Microsoft Office PowerPoint</Application>
  <PresentationFormat>Widescreen</PresentationFormat>
  <Paragraphs>181</Paragraphs>
  <Slides>18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Bahnschrift Light</vt:lpstr>
      <vt:lpstr>Britannic Bold</vt:lpstr>
      <vt:lpstr>Calibri</vt:lpstr>
      <vt:lpstr>Cambria Math</vt:lpstr>
      <vt:lpstr>Poppins</vt:lpstr>
      <vt:lpstr>Poppins Light</vt:lpstr>
      <vt:lpstr>Poppins SemiBold</vt:lpstr>
      <vt:lpstr>Office Theme</vt:lpstr>
      <vt:lpstr>Visio</vt:lpstr>
      <vt:lpstr>Deep CNN-supported Ensemble CADx Architecture to Diagnose Malaria by Medical Image</vt:lpstr>
      <vt:lpstr> Outlines</vt:lpstr>
      <vt:lpstr> 1 Introduction</vt:lpstr>
      <vt:lpstr> 2 Related Works</vt:lpstr>
      <vt:lpstr>3 Proposed Methodology</vt:lpstr>
      <vt:lpstr>3 Proposed Methodology</vt:lpstr>
      <vt:lpstr>3 Proposed Methodology</vt:lpstr>
      <vt:lpstr>3 Proposed Methodology</vt:lpstr>
      <vt:lpstr>3 Proposed Methodology</vt:lpstr>
      <vt:lpstr>3 Proposed Methodology</vt:lpstr>
      <vt:lpstr>4 Experimental Results</vt:lpstr>
      <vt:lpstr>4 Experimental Results</vt:lpstr>
      <vt:lpstr>4 Experimental Results</vt:lpstr>
      <vt:lpstr>4 Experimental Results</vt:lpstr>
      <vt:lpstr>4 Experimental Results</vt:lpstr>
      <vt:lpstr> 5 Conclusion</vt:lpstr>
      <vt:lpstr>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EXAMPLE</dc:title>
  <dc:creator>Erteza Tawsif Efaz</dc:creator>
  <cp:lastModifiedBy>Md. Shah Kamal</cp:lastModifiedBy>
  <cp:revision>65</cp:revision>
  <dcterms:created xsi:type="dcterms:W3CDTF">2020-06-04T14:26:59Z</dcterms:created>
  <dcterms:modified xsi:type="dcterms:W3CDTF">2026-01-11T15:45:34Z</dcterms:modified>
</cp:coreProperties>
</file>